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ortuna/Desktop/Colab/Med_LLM/findings/kaggle_submission/slides/bar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40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1200150"/>
            <a:ext cx="4209752" cy="209550"/>
          </a:xfrm>
          <a:prstGeom prst="roundRect">
            <a:avLst>
              <a:gd name="adj" fmla="val 12121"/>
            </a:avLst>
          </a:prstGeom>
          <a:solidFill>
            <a:srgbClr val="233554"/>
          </a:solidFill>
          <a:ln w="9525">
            <a:solidFill>
              <a:srgbClr val="2A9D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4426" y="1247775"/>
            <a:ext cx="4015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IMPACT CHALLENGE 2026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7950" y="1612850"/>
            <a:ext cx="42939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3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Integration of HAI-DEF Models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7950" y="2133451"/>
            <a:ext cx="42939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Uro-Oncological Decision-Making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7950" y="2501652"/>
            <a:ext cx="429394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30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as Predictor &amp; Judge for German Renal Cell Carcinoma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7950" y="3095923"/>
            <a:ext cx="507950" cy="25301"/>
          </a:xfrm>
          <a:prstGeom prst="rect">
            <a:avLst/>
          </a:prstGeom>
          <a:solidFill>
            <a:srgbClr val="64FF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7950" y="3387923"/>
            <a:ext cx="4293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Radu Alexa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Board-Certified Uro-Oncologist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7950" y="3568898"/>
            <a:ext cx="4293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Nangia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Researcher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7950" y="3749873"/>
            <a:ext cx="42939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 Gokrani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Researcher, ex-Microsoft Health AI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7950" y="4108549"/>
            <a:ext cx="914846" cy="215801"/>
          </a:xfrm>
          <a:prstGeom prst="roundRect">
            <a:avLst>
              <a:gd name="adj" fmla="val 1177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0350" y="4159300"/>
            <a:ext cx="6222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TRACK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524298" y="4108549"/>
            <a:ext cx="1258491" cy="215801"/>
          </a:xfrm>
          <a:prstGeom prst="roundRect">
            <a:avLst>
              <a:gd name="adj" fmla="val 11770"/>
            </a:avLst>
          </a:prstGeom>
          <a:solidFill>
            <a:srgbClr val="233554"/>
          </a:solidFill>
          <a:ln w="9525">
            <a:solidFill>
              <a:srgbClr val="64FF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686223" y="4168825"/>
            <a:ext cx="953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TASK PRIZE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43618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Tumor Board Preparation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762000"/>
            <a:ext cx="41195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6301" y="1000125"/>
            <a:ext cx="381000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152376"/>
            <a:ext cx="4038749" cy="10285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tumor board meetings at 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German cancer centers</a:t>
            </a:r>
            <a:endParaRPr lang="en-US" sz="900" dirty="0"/>
          </a:p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Clinicians compile patient data, cross-reference national guidelines, draft therapy recommendations</a:t>
            </a:r>
            <a:endParaRPr lang="en-US" sz="900" dirty="0"/>
          </a:p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Error-prone: staging typos, guideline drift, documentation inconsistencies</a:t>
            </a:r>
            <a:endParaRPr lang="en-US" sz="900" dirty="0"/>
          </a:p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validated AI assistant for 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German-language clinical oncology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6301" y="2307878"/>
            <a:ext cx="4038749" cy="487561"/>
          </a:xfrm>
          <a:prstGeom prst="roundRect">
            <a:avLst>
              <a:gd name="adj" fmla="val 10419"/>
            </a:avLst>
          </a:prstGeom>
          <a:solidFill>
            <a:srgbClr val="F0FA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5351" y="2307878"/>
            <a:ext cx="0" cy="487561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351" y="2409379"/>
            <a:ext cx="382168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Unmet need: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Medical AI benchmarks overwhelmingly use English data. German clinical NLP is underserved.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98950" y="762000"/>
            <a:ext cx="41195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8950" y="1000125"/>
            <a:ext cx="381000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8950" y="1152376"/>
            <a:ext cx="4038749" cy="102855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real RCC cases</a:t>
            </a:r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German tumor boards</a:t>
            </a:r>
            <a:endParaRPr lang="en-US" sz="900" dirty="0"/>
          </a:p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per NCC guidelines</a:t>
            </a:r>
            <a:endParaRPr lang="en-US" sz="900" dirty="0"/>
          </a:p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clinical data: ECOG, Karnofsky, TNM staging, IMDC risk, histology, imaging, prior therapies</a:t>
            </a:r>
            <a:endParaRPr lang="en-US" sz="900" dirty="0"/>
          </a:p>
          <a:p>
            <a:pPr algn="l" marL="88900" indent="-88900">
              <a:lnSpc>
                <a:spcPts val="126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= actual tumor board consensus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8950" y="2282428"/>
            <a:ext cx="4038749" cy="745927"/>
          </a:xfrm>
          <a:prstGeom prst="roundRect">
            <a:avLst>
              <a:gd name="adj" fmla="val 6810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8052" y="2409379"/>
            <a:ext cx="386054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 / 48%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88052" y="2787104"/>
            <a:ext cx="38605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Metastatic vs. Localized cases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98950" y="3129855"/>
            <a:ext cx="4038749" cy="745927"/>
          </a:xfrm>
          <a:prstGeom prst="roundRect">
            <a:avLst>
              <a:gd name="adj" fmla="val 6810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88052" y="3256806"/>
            <a:ext cx="386054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88052" y="3634532"/>
            <a:ext cx="38605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expert reviews (100% coverage)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3338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Evaluation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736550"/>
            <a:ext cx="1041350" cy="609898"/>
          </a:xfrm>
          <a:prstGeom prst="roundRect">
            <a:avLst>
              <a:gd name="adj" fmla="val 832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3611" y="895499"/>
            <a:ext cx="9067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3611" y="1092250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574602" y="736550"/>
            <a:ext cx="4473922" cy="609898"/>
          </a:xfrm>
          <a:prstGeom prst="roundRect">
            <a:avLst>
              <a:gd name="adj" fmla="val 83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593652" y="736550"/>
            <a:ext cx="0" cy="609898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5102" y="812750"/>
            <a:ext cx="4213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Therapy Recommendation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65102" y="980926"/>
            <a:ext cx="42136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models receive structured German clinical JSON with embedded IMDC therapy guidelines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65102" y="1125587"/>
            <a:ext cx="42136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is_metastatic, IMDC risk, therapy, category, reasoning, confidence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9879" y="1435298"/>
            <a:ext cx="57550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301" y="1733699"/>
            <a:ext cx="1041350" cy="609898"/>
          </a:xfrm>
          <a:prstGeom prst="roundRect">
            <a:avLst>
              <a:gd name="adj" fmla="val 832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611" y="1892647"/>
            <a:ext cx="9067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11" y="2089398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Judge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574602" y="1733699"/>
            <a:ext cx="4473922" cy="609898"/>
          </a:xfrm>
          <a:prstGeom prst="roundRect">
            <a:avLst>
              <a:gd name="adj" fmla="val 83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593652" y="1733699"/>
            <a:ext cx="0" cy="609898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65102" y="1809899"/>
            <a:ext cx="4213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Judge Evaluation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65102" y="1978075"/>
            <a:ext cx="42136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and MedGemma 27B independently score each prediction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65102" y="2122736"/>
            <a:ext cx="42136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</a:t>
            </a:r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= semantic(40%) + clinical(40%) + reasoning(20%)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9879" y="2432447"/>
            <a:ext cx="57550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6301" y="2730847"/>
            <a:ext cx="1041350" cy="609898"/>
          </a:xfrm>
          <a:prstGeom prst="roundRect">
            <a:avLst>
              <a:gd name="adj" fmla="val 832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3611" y="2889796"/>
            <a:ext cx="9067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11" y="308654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74602" y="2730847"/>
            <a:ext cx="4473922" cy="609898"/>
          </a:xfrm>
          <a:prstGeom prst="roundRect">
            <a:avLst>
              <a:gd name="adj" fmla="val 832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593652" y="2730847"/>
            <a:ext cx="0" cy="609898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5102" y="2807047"/>
            <a:ext cx="4213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Uro-Oncologist Validation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65102" y="2975223"/>
            <a:ext cx="42136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Board-certified physician reviews ALL model predictions AND judge evaluations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65102" y="3119884"/>
            <a:ext cx="421364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acceptability, exact match, quality (0-9), judge agreement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6301" y="3480346"/>
            <a:ext cx="1796058" cy="590252"/>
          </a:xfrm>
          <a:prstGeom prst="roundRect">
            <a:avLst>
              <a:gd name="adj" fmla="val 8606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871" y="3581846"/>
            <a:ext cx="16249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1871" y="3873847"/>
            <a:ext cx="16249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Predictions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329309" y="3480346"/>
            <a:ext cx="1796207" cy="590252"/>
          </a:xfrm>
          <a:prstGeom prst="roundRect">
            <a:avLst>
              <a:gd name="adj" fmla="val 8606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414878" y="3581846"/>
            <a:ext cx="16250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414878" y="3873847"/>
            <a:ext cx="16250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Evaluations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252466" y="3480346"/>
            <a:ext cx="1796058" cy="590252"/>
          </a:xfrm>
          <a:prstGeom prst="roundRect">
            <a:avLst>
              <a:gd name="adj" fmla="val 8606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38036" y="3581846"/>
            <a:ext cx="16249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338036" y="3873847"/>
            <a:ext cx="16249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Reviews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2617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Infrastructure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762000"/>
            <a:ext cx="2430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6301" y="1000125"/>
            <a:ext cx="381000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152376"/>
            <a:ext cx="2382441" cy="587722"/>
          </a:xfrm>
          <a:prstGeom prst="roundRect">
            <a:avLst>
              <a:gd name="adj" fmla="val 648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25351" y="1152376"/>
            <a:ext cx="0" cy="58772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241227"/>
            <a:ext cx="21322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vLLM on H100 GPUs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351" y="1387227"/>
            <a:ext cx="213224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GPU inference with grammar-guided generation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6301" y="1816298"/>
            <a:ext cx="2382441" cy="587722"/>
          </a:xfrm>
          <a:prstGeom prst="roundRect">
            <a:avLst>
              <a:gd name="adj" fmla="val 648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5351" y="1816298"/>
            <a:ext cx="0" cy="58772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351" y="1905149"/>
            <a:ext cx="21322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Schema Enforcement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351" y="2051149"/>
            <a:ext cx="213224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output for therapy predictions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6301" y="2480221"/>
            <a:ext cx="2382441" cy="587722"/>
          </a:xfrm>
          <a:prstGeom prst="roundRect">
            <a:avLst>
              <a:gd name="adj" fmla="val 648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5351" y="2480221"/>
            <a:ext cx="0" cy="58772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351" y="2569071"/>
            <a:ext cx="21322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Clinical Prompts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351" y="2715071"/>
            <a:ext cx="213224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IMDC therapy algorithm embedded in prompt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6301" y="3144143"/>
            <a:ext cx="2382441" cy="587722"/>
          </a:xfrm>
          <a:prstGeom prst="roundRect">
            <a:avLst>
              <a:gd name="adj" fmla="val 648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25351" y="3144143"/>
            <a:ext cx="0" cy="58772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351" y="3232993"/>
            <a:ext cx="21322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Reproducibility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351" y="3378994"/>
            <a:ext cx="213224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Seed=42, fixed temperature, nucleus sampling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6301" y="3808065"/>
            <a:ext cx="2382441" cy="587722"/>
          </a:xfrm>
          <a:prstGeom prst="roundRect">
            <a:avLst>
              <a:gd name="adj" fmla="val 648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25351" y="3808065"/>
            <a:ext cx="0" cy="58772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351" y="3896916"/>
            <a:ext cx="21322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Model Support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351" y="4042916"/>
            <a:ext cx="213224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OLMo Think: 65K tokens, JSON after reasoning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42642" y="762000"/>
            <a:ext cx="2430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42642" y="1000125"/>
            <a:ext cx="381000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42642" y="1152376"/>
            <a:ext cx="2382441" cy="1393627"/>
          </a:xfrm>
          <a:prstGeom prst="roundRect">
            <a:avLst>
              <a:gd name="adj" fmla="val 364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169593" y="1449139"/>
            <a:ext cx="21285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69593" y="1291977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58543" y="1291977"/>
            <a:ext cx="632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78263" y="1291977"/>
            <a:ext cx="632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69593" y="1649164"/>
            <a:ext cx="21285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9593" y="1492002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58543" y="1492002"/>
            <a:ext cx="632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78263" y="1492002"/>
            <a:ext cx="632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69593" y="1849189"/>
            <a:ext cx="21285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9593" y="1692027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58543" y="1692027"/>
            <a:ext cx="632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78263" y="1692027"/>
            <a:ext cx="632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69593" y="2049214"/>
            <a:ext cx="21285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69593" y="1892052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58543" y="1892052"/>
            <a:ext cx="632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32,768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78263" y="1892052"/>
            <a:ext cx="632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65,536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169593" y="2249239"/>
            <a:ext cx="21285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69593" y="2092077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58543" y="2092077"/>
            <a:ext cx="632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78263" y="2092077"/>
            <a:ext cx="632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169593" y="2292102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58543" y="2292102"/>
            <a:ext cx="632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78263" y="2292102"/>
            <a:ext cx="6322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Post-parse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042642" y="2672953"/>
            <a:ext cx="2382441" cy="1073051"/>
          </a:xfrm>
          <a:prstGeom prst="roundRect">
            <a:avLst>
              <a:gd name="adj" fmla="val 4734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195042" y="2799904"/>
            <a:ext cx="2119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Web Platform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95042" y="3009454"/>
            <a:ext cx="2077641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deployment</a:t>
            </a:r>
            <a:endParaRPr lang="en-US" sz="8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review workflows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50919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— Uro-Oncologist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762000"/>
            <a:ext cx="2286000" cy="1187053"/>
          </a:xfrm>
          <a:prstGeom prst="roundRect">
            <a:avLst>
              <a:gd name="adj" fmla="val 6419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914400"/>
            <a:ext cx="20208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27B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01" y="1162050"/>
            <a:ext cx="2020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75.4%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clinically acceptable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8701" y="1320701"/>
            <a:ext cx="2020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/ 9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quality 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8701" y="1479352"/>
            <a:ext cx="2020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46.4%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therapy match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8701" y="1638002"/>
            <a:ext cx="2020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judge score (best)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6301" y="2050554"/>
            <a:ext cx="2286000" cy="1005929"/>
          </a:xfrm>
          <a:prstGeom prst="roundRect">
            <a:avLst>
              <a:gd name="adj" fmla="val 50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5351" y="2050554"/>
            <a:ext cx="0" cy="1005929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351" y="2177504"/>
            <a:ext cx="20338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Models (avg)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351" y="2371130"/>
            <a:ext cx="20338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63.5% metastatic detection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1351" y="2510730"/>
            <a:ext cx="20338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58.7% clinically acceptable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351" y="2650331"/>
            <a:ext cx="20338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 exact therapy match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1351" y="2789932"/>
            <a:ext cx="20338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/ 9 quality score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46202" y="762000"/>
            <a:ext cx="59073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Acceptable Rate by Model</a:t>
            </a:r>
            <a:endParaRPr lang="en-US" sz="1100" dirty="0"/>
          </a:p>
        </p:txBody>
      </p:sp>
      <p:pic>
        <p:nvPicPr>
          <p:cNvPr id="18" name="Image 0" descr="/Users/fortuna/Desktop/Colab/Med_LLM/findings/charts/model_accep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202" y="990600"/>
            <a:ext cx="5791498" cy="3195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499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Task: MedGemma as Structured Judge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30393" y="152400"/>
            <a:ext cx="1307306" cy="215801"/>
          </a:xfrm>
          <a:prstGeom prst="roundRect">
            <a:avLst>
              <a:gd name="adj" fmla="val 1177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57343" y="203150"/>
            <a:ext cx="10744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TASK PRIZE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6301" y="762000"/>
            <a:ext cx="41195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Scoring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000125"/>
            <a:ext cx="381000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301" y="1152376"/>
            <a:ext cx="4038749" cy="577751"/>
          </a:xfrm>
          <a:prstGeom prst="roundRect">
            <a:avLst>
              <a:gd name="adj" fmla="val 8793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1361" y="1304776"/>
            <a:ext cx="380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4FF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= sem(.4) + clin(.4) + reas(.2)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361" y="1482477"/>
            <a:ext cx="38086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composite score (0 - 1 scale)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6301" y="1857077"/>
            <a:ext cx="4038749" cy="393650"/>
          </a:xfrm>
          <a:prstGeom prst="roundRect">
            <a:avLst>
              <a:gd name="adj" fmla="val 96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251" y="1949053"/>
            <a:ext cx="507950" cy="209550"/>
          </a:xfrm>
          <a:prstGeom prst="roundRect">
            <a:avLst>
              <a:gd name="adj" fmla="val 12121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5896" y="1987153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2702" y="1933277"/>
            <a:ext cx="2097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Match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2702" y="2079278"/>
            <a:ext cx="20970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drug=1.0, same class=0.5-0.7, different=0-0.3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6301" y="2314129"/>
            <a:ext cx="4038749" cy="393650"/>
          </a:xfrm>
          <a:prstGeom prst="roundRect">
            <a:avLst>
              <a:gd name="adj" fmla="val 96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251" y="2406104"/>
            <a:ext cx="507950" cy="209550"/>
          </a:xfrm>
          <a:prstGeom prst="roundRect">
            <a:avLst>
              <a:gd name="adj" fmla="val 12121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5896" y="2444204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702" y="2390329"/>
            <a:ext cx="1748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Appropriateness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2702" y="2536329"/>
            <a:ext cx="17484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First-choice=0.9-1.0, acceptable alt=0.6-0.8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06301" y="2771180"/>
            <a:ext cx="4038749" cy="393650"/>
          </a:xfrm>
          <a:prstGeom prst="roundRect">
            <a:avLst>
              <a:gd name="adj" fmla="val 96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251" y="2863155"/>
            <a:ext cx="507950" cy="209550"/>
          </a:xfrm>
          <a:prstGeom prst="roundRect">
            <a:avLst>
              <a:gd name="adj" fmla="val 12121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5896" y="2901255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2702" y="2847380"/>
            <a:ext cx="15997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Quality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2702" y="2993380"/>
            <a:ext cx="15997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Complete+correct=0.8-1.0, errors=0-0.4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98950" y="762000"/>
            <a:ext cx="4038749" cy="2241352"/>
          </a:xfrm>
          <a:prstGeom prst="roundRect">
            <a:avLst>
              <a:gd name="adj" fmla="val 226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18000" y="762000"/>
            <a:ext cx="0" cy="224135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9450" y="888950"/>
            <a:ext cx="37697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Novel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89450" y="1136600"/>
            <a:ext cx="3695849" cy="16764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120"/>
              </a:lnSpc>
              <a:spcAft>
                <a:spcPts val="5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Repurposed for evaluation:</a:t>
            </a:r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MedGemma was trained as a clinical model, not a judge — we adapt it for structured scoring of other models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5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medical NLP:</a:t>
            </a:r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Judge evaluates in German with domain-specific oncology terminology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5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output:</a:t>
            </a:r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Grammar-guided generation ensures consistent scoring format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5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Expert-validated:</a:t>
            </a:r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828 judge evaluations reviewed by uro-oncologist (100% coverage)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5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discovery:</a:t>
            </a:r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Self-judging bias (p=0.017) — a finding with broad implications for LLM-as-judge pipelines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42535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Agreement with Uro-Oncologist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762000"/>
            <a:ext cx="1782366" cy="3873550"/>
          </a:xfrm>
          <a:prstGeom prst="roundRect">
            <a:avLst>
              <a:gd name="adj" fmla="val 4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785813"/>
            <a:ext cx="1782366" cy="0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2403" y="762000"/>
            <a:ext cx="0" cy="38735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" y="4630787"/>
            <a:ext cx="1782366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562" y="762000"/>
            <a:ext cx="0" cy="38735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725" y="962025"/>
            <a:ext cx="14876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27B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725" y="1187351"/>
            <a:ext cx="148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Medical-specialized judge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6725" y="1403152"/>
            <a:ext cx="1458516" cy="714077"/>
          </a:xfrm>
          <a:prstGeom prst="roundRect">
            <a:avLst>
              <a:gd name="adj" fmla="val 7114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5671" y="1504652"/>
            <a:ext cx="12806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5671" y="1901428"/>
            <a:ext cx="1280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Cohen's kappa (substantial)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725" y="2413992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725" y="2256830"/>
            <a:ext cx="754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Rate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37258" y="2256830"/>
            <a:ext cx="2937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84.5%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725" y="2614017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725" y="2456855"/>
            <a:ext cx="420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71042" y="2456855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725" y="2814042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725" y="2656880"/>
            <a:ext cx="4663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71042" y="2656880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725" y="3014067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725" y="2856905"/>
            <a:ext cx="4663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71042" y="2856905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0.847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725" y="3214092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725" y="3056930"/>
            <a:ext cx="656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Agrees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37258" y="3056930"/>
            <a:ext cx="2937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85.3%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725" y="3256955"/>
            <a:ext cx="8463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Quality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86508" y="3256955"/>
            <a:ext cx="345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/ 10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64866" y="762000"/>
            <a:ext cx="1782366" cy="3873550"/>
          </a:xfrm>
          <a:prstGeom prst="roundRect">
            <a:avLst>
              <a:gd name="adj" fmla="val 4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264866" y="785813"/>
            <a:ext cx="1782366" cy="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42470" y="762000"/>
            <a:ext cx="0" cy="38735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4866" y="4630787"/>
            <a:ext cx="1782366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69629" y="762000"/>
            <a:ext cx="0" cy="387355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6791" y="962025"/>
            <a:ext cx="14876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426791" y="1187351"/>
            <a:ext cx="148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judge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426791" y="1403152"/>
            <a:ext cx="1458516" cy="714077"/>
          </a:xfrm>
          <a:prstGeom prst="roundRect">
            <a:avLst>
              <a:gd name="adj" fmla="val 7114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515737" y="1504652"/>
            <a:ext cx="12806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0.629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2515737" y="1901428"/>
            <a:ext cx="1280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Cohen's kappa (substantial)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26791" y="2413992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6791" y="2256830"/>
            <a:ext cx="754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Rate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97325" y="2256830"/>
            <a:ext cx="2937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81.8%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26791" y="2614017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26791" y="2456855"/>
            <a:ext cx="420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31109" y="2456855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426791" y="2814042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6791" y="2656880"/>
            <a:ext cx="4663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31109" y="2656880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426791" y="3014067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26791" y="2856905"/>
            <a:ext cx="4663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31109" y="2856905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0.880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426791" y="3214092"/>
            <a:ext cx="1458516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26791" y="3056930"/>
            <a:ext cx="6562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Agrees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597325" y="3056930"/>
            <a:ext cx="2937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85.0%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426791" y="3256955"/>
            <a:ext cx="8463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Quality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46574" y="3256955"/>
            <a:ext cx="345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/ 10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24933" y="762000"/>
            <a:ext cx="1777901" cy="1885950"/>
          </a:xfrm>
          <a:prstGeom prst="roundRect">
            <a:avLst>
              <a:gd name="adj" fmla="val 4286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362602" y="1384250"/>
            <a:ext cx="1502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INTER-JUDGE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362602" y="1549301"/>
            <a:ext cx="15025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0.725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4362602" y="1911251"/>
            <a:ext cx="1502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Cohen's kappa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224933" y="2749451"/>
            <a:ext cx="1777901" cy="1886099"/>
          </a:xfrm>
          <a:prstGeom prst="roundRect">
            <a:avLst>
              <a:gd name="adj" fmla="val 4286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362602" y="3371850"/>
            <a:ext cx="1502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362602" y="3536900"/>
            <a:ext cx="15025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86.5%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4362602" y="3898850"/>
            <a:ext cx="1502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rate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3718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Discovery: Self-Judging Bias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866459" y="152400"/>
            <a:ext cx="871240" cy="234851"/>
          </a:xfrm>
          <a:prstGeom prst="roundRect">
            <a:avLst>
              <a:gd name="adj" fmla="val 10815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93410" y="203150"/>
            <a:ext cx="62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0.017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6301" y="762000"/>
            <a:ext cx="2376785" cy="955477"/>
          </a:xfrm>
          <a:prstGeom prst="roundRect">
            <a:avLst>
              <a:gd name="adj" fmla="val 7975"/>
            </a:avLst>
          </a:prstGeom>
          <a:solidFill>
            <a:srgbClr val="F8F9FA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1453" y="908000"/>
            <a:ext cx="2126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SELF-JUDGING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31453" y="1041350"/>
            <a:ext cx="21264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1453" y="1476226"/>
            <a:ext cx="21264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69 evaluations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10036" y="762000"/>
            <a:ext cx="2357884" cy="955477"/>
          </a:xfrm>
          <a:prstGeom prst="roundRect">
            <a:avLst>
              <a:gd name="adj" fmla="val 7975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25662" y="898475"/>
            <a:ext cx="21266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OTHERS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25662" y="1031825"/>
            <a:ext cx="212663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25662" y="1466701"/>
            <a:ext cx="21266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345 evaluations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301" y="1818977"/>
            <a:ext cx="4861620" cy="546050"/>
          </a:xfrm>
          <a:prstGeom prst="roundRect">
            <a:avLst>
              <a:gd name="adj" fmla="val 930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409" y="1895177"/>
            <a:ext cx="48034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+0.082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5409" y="2174528"/>
            <a:ext cx="4803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scores its own predictions higher</a:t>
            </a:r>
            <a:endParaRPr lang="en-US" sz="800" dirty="0"/>
          </a:p>
        </p:txBody>
      </p:sp>
      <p:pic>
        <p:nvPicPr>
          <p:cNvPr id="17" name="Image 0" descr="/Users/fortuna/Desktop/Colab/Med_LLM/findings/charts/medgemma_b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01" y="2466529"/>
            <a:ext cx="4861620" cy="2682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96520" y="762000"/>
            <a:ext cx="3241179" cy="682228"/>
          </a:xfrm>
          <a:prstGeom prst="roundRect">
            <a:avLst>
              <a:gd name="adj" fmla="val 7446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67639" y="863501"/>
            <a:ext cx="30989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67639" y="984052"/>
            <a:ext cx="30989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Mann-Whitney U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67639" y="1247477"/>
            <a:ext cx="30989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14,062 | p = 0.017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496520" y="1520428"/>
            <a:ext cx="3241179" cy="682228"/>
          </a:xfrm>
          <a:prstGeom prst="roundRect">
            <a:avLst>
              <a:gd name="adj" fmla="val 7446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567639" y="1621929"/>
            <a:ext cx="30989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DIFFERENCE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567639" y="1742480"/>
            <a:ext cx="30989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0.850 vs 0.780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67639" y="2005905"/>
            <a:ext cx="30989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vs. Others median scores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96520" y="2278856"/>
            <a:ext cx="3241179" cy="2356693"/>
          </a:xfrm>
          <a:prstGeom prst="roundRect">
            <a:avLst>
              <a:gd name="adj" fmla="val 215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5515570" y="2278856"/>
            <a:ext cx="0" cy="2356693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1571" y="2380357"/>
            <a:ext cx="30081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61571" y="2573982"/>
            <a:ext cx="3008162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Self-evaluation pipelines must account for this bias. Models should not be sole judges of their own outputs without independent calibration. This finding generalizes to any LLM-as-judge pipeline.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2609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Safety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762000"/>
            <a:ext cx="3545384" cy="1266230"/>
          </a:xfrm>
          <a:prstGeom prst="roundRect">
            <a:avLst>
              <a:gd name="adj" fmla="val 6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785813"/>
            <a:ext cx="3545384" cy="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46922" y="762000"/>
            <a:ext cx="0" cy="126623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301" y="2023467"/>
            <a:ext cx="354538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063" y="762000"/>
            <a:ext cx="0" cy="126623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226" y="962025"/>
            <a:ext cx="3285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(Dangerous)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8226" y="1139726"/>
            <a:ext cx="32859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approves what doctor rejects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68226" y="1601391"/>
            <a:ext cx="3221534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226" y="1399877"/>
            <a:ext cx="4341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9161" y="1399877"/>
            <a:ext cx="265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8226" y="1669554"/>
            <a:ext cx="881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27B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9161" y="1669554"/>
            <a:ext cx="2658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301" y="2155180"/>
            <a:ext cx="3545384" cy="1266230"/>
          </a:xfrm>
          <a:prstGeom prst="roundRect">
            <a:avLst>
              <a:gd name="adj" fmla="val 6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6301" y="2178993"/>
            <a:ext cx="3545384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46922" y="2155180"/>
            <a:ext cx="0" cy="126623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301" y="3416647"/>
            <a:ext cx="354538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063" y="2155180"/>
            <a:ext cx="0" cy="126623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226" y="2355205"/>
            <a:ext cx="3285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 (Overly Strict)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8226" y="2532906"/>
            <a:ext cx="32859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rejects what doctor approves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68226" y="2994571"/>
            <a:ext cx="3221534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226" y="2793057"/>
            <a:ext cx="4341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65612" y="2793057"/>
            <a:ext cx="330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8226" y="3062734"/>
            <a:ext cx="881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27B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65612" y="3062734"/>
            <a:ext cx="330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5585" y="762000"/>
            <a:ext cx="3545384" cy="3873550"/>
          </a:xfrm>
          <a:prstGeom prst="roundRect">
            <a:avLst>
              <a:gd name="adj" fmla="val 2149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83286" y="939701"/>
            <a:ext cx="3253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Takeaways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3286" y="1238101"/>
            <a:ext cx="3189982" cy="19300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judges are conservative</a:t>
            </a:r>
            <a:pPr algn="l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they err toward rejecting, which is safer in clinical context</a:t>
            </a:r>
            <a:endParaRPr lang="en-US" sz="800" dirty="0"/>
          </a:p>
          <a:p>
            <a:pPr algn="l" marL="88900" indent="-88900">
              <a:lnSpc>
                <a:spcPts val="12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GPT-5.2 has lowest dangerous error rate</a:t>
            </a:r>
            <a:pPr algn="l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(8.2%) — better for safety-critical screening</a:t>
            </a:r>
            <a:endParaRPr lang="en-US" sz="800" dirty="0"/>
          </a:p>
          <a:p>
            <a:pPr algn="l" marL="88900" indent="-88900">
              <a:lnSpc>
                <a:spcPts val="12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is less strict</a:t>
            </a:r>
            <a:pPr algn="l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(24.0% vs 29.8% FN) — catches more valid alternatives</a:t>
            </a:r>
            <a:endParaRPr lang="en-US" sz="800" dirty="0"/>
          </a:p>
          <a:p>
            <a:pPr algn="l" marL="88900" indent="-88900">
              <a:lnSpc>
                <a:spcPts val="12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strengths:</a:t>
            </a:r>
            <a:pPr algn="l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both judges and flagging disagreements maximizes safety</a:t>
            </a:r>
            <a:endParaRPr lang="en-US" sz="800" dirty="0"/>
          </a:p>
          <a:p>
            <a:pPr algn="l" marL="88900" indent="-88900">
              <a:lnSpc>
                <a:spcPts val="1200"/>
              </a:lnSpc>
              <a:spcAft>
                <a:spcPts val="800"/>
              </a:spcAft>
              <a:buSzPct val="100000"/>
              <a:buChar char="•"/>
            </a:pPr>
            <a:r>
              <a:rPr lang="en-US" sz="800" b="1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judges as screening tools,</a:t>
            </a:r>
            <a:pPr algn="l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CCD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final arbiters — physician review remains essential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71450"/>
            <a:ext cx="272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Future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736550"/>
            <a:ext cx="1550640" cy="777776"/>
          </a:xfrm>
          <a:prstGeom prst="roundRect">
            <a:avLst>
              <a:gd name="adj" fmla="val 9797"/>
            </a:avLst>
          </a:prstGeom>
          <a:solidFill>
            <a:srgbClr val="2A9D8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8783" y="863501"/>
            <a:ext cx="13226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75.4%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8783" y="1196876"/>
            <a:ext cx="1322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Acceptable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(MedGemma 27B)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982391" y="736550"/>
            <a:ext cx="1550640" cy="777776"/>
          </a:xfrm>
          <a:prstGeom prst="roundRect">
            <a:avLst>
              <a:gd name="adj" fmla="val 9797"/>
            </a:avLst>
          </a:prstGeom>
          <a:solidFill>
            <a:srgbClr val="2A9D8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96374" y="863501"/>
            <a:ext cx="13226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96374" y="1196876"/>
            <a:ext cx="1322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Judge Kappa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(MedGemma 27B)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9981" y="736550"/>
            <a:ext cx="1550640" cy="777776"/>
          </a:xfrm>
          <a:prstGeom prst="roundRect">
            <a:avLst>
              <a:gd name="adj" fmla="val 9797"/>
            </a:avLst>
          </a:prstGeom>
          <a:solidFill>
            <a:srgbClr val="2A9D8F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3964" y="863501"/>
            <a:ext cx="13226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73964" y="1196876"/>
            <a:ext cx="1322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Reviews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D4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(100% coverage)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337572" y="736550"/>
            <a:ext cx="1550640" cy="777776"/>
          </a:xfrm>
          <a:prstGeom prst="roundRect">
            <a:avLst>
              <a:gd name="adj" fmla="val 9797"/>
            </a:avLst>
          </a:prstGeom>
          <a:solidFill>
            <a:srgbClr val="E74C3C"/>
          </a:solidFill>
          <a:ln/>
          <a:effectLst>
            <a:outerShdw sx="100000" sy="100000" kx="0" ky="0" algn="bl" rotWithShape="0" blurRad="3810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51555" y="863501"/>
            <a:ext cx="13226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p=0.017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51555" y="1196876"/>
            <a:ext cx="1322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C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Self-Judging Bias</a:t>
            </a:r>
            <a:endParaRPr lang="en-US" sz="7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FC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(Novel discovery)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04800" y="1641277"/>
            <a:ext cx="4003477" cy="2994273"/>
          </a:xfrm>
          <a:prstGeom prst="roundRect">
            <a:avLst>
              <a:gd name="adj" fmla="val 2545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6725" y="1803202"/>
            <a:ext cx="3753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725" y="2050852"/>
            <a:ext cx="3679627" cy="153426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120"/>
              </a:lnSpc>
              <a:spcAft>
                <a:spcPts val="4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 dual role:</a:t>
            </a:r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predictor (75.4%, 6.1/9) AND best judge (kappa=0.675)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4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task:</a:t>
            </a:r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MedGemma adapted as structured medical judge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4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clinical validation:</a:t>
            </a:r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69 German tumor board cases, not synthetic benchmarks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4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expert coverage:</a:t>
            </a:r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Board-certified uro-oncologist reviewed all 1,242 outputs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4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discovery:</a:t>
            </a:r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Statistically significant self-judging bias (p=0.017)</a:t>
            </a:r>
            <a:endParaRPr lang="en-US" sz="800" dirty="0"/>
          </a:p>
          <a:p>
            <a:pPr algn="l" marL="88900" indent="-88900">
              <a:lnSpc>
                <a:spcPts val="1120"/>
              </a:lnSpc>
              <a:spcAft>
                <a:spcPts val="400"/>
              </a:spcAft>
              <a:buSzPct val="100000"/>
              <a:buChar char="•"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system:</a:t>
            </a:r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web app with Supabase, deployed on Vercel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35227" y="1641277"/>
            <a:ext cx="2452985" cy="466427"/>
          </a:xfrm>
          <a:prstGeom prst="roundRect">
            <a:avLst>
              <a:gd name="adj" fmla="val 10891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62177" y="1742777"/>
            <a:ext cx="224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2177" y="1901428"/>
            <a:ext cx="22430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medical-review-site.vercel.app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35227" y="2183904"/>
            <a:ext cx="2452985" cy="466427"/>
          </a:xfrm>
          <a:prstGeom prst="roundRect">
            <a:avLst>
              <a:gd name="adj" fmla="val 10891"/>
            </a:avLst>
          </a:prstGeom>
          <a:solidFill>
            <a:srgbClr val="0A19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62177" y="2285405"/>
            <a:ext cx="224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62177" y="2444055"/>
            <a:ext cx="22430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github.com/ayushnangia/Med_LLM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435227" y="2726531"/>
            <a:ext cx="2452985" cy="1909018"/>
          </a:xfrm>
          <a:prstGeom prst="roundRect">
            <a:avLst>
              <a:gd name="adj" fmla="val 266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454277" y="2726531"/>
            <a:ext cx="0" cy="1909018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0277" y="2828032"/>
            <a:ext cx="22042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00277" y="3012132"/>
            <a:ext cx="2160984" cy="4569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physician reviewers</a:t>
            </a:r>
            <a:endParaRPr lang="en-US" sz="7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prostate, urothelial, testicular</a:t>
            </a:r>
            <a:endParaRPr lang="en-US" sz="7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MedGemma on validated dataset</a:t>
            </a:r>
            <a:endParaRPr lang="en-US" sz="700" dirty="0"/>
          </a:p>
          <a:p>
            <a:pPr algn="l" marL="76200" indent="-762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co-pilot for tumor board prep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TumorBoard AI: MedGemma as Predictor and Judge</dc:title>
  <dc:subject>PptxGenJS Presentation</dc:subject>
  <dc:creator>Radu Alexa, Ayush Nangia, Aman Gokrani</dc:creator>
  <cp:lastModifiedBy>Radu Alexa, Ayush Nangia, Aman Gokrani</cp:lastModifiedBy>
  <cp:revision>1</cp:revision>
  <dcterms:created xsi:type="dcterms:W3CDTF">2026-02-22T12:16:21Z</dcterms:created>
  <dcterms:modified xsi:type="dcterms:W3CDTF">2026-02-22T12:16:21Z</dcterms:modified>
</cp:coreProperties>
</file>